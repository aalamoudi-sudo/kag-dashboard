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99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85C0B3-6D0B-AB02-A54E-17118FDBA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46943-5B24-828E-F323-2DEF954192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1" y="0"/>
            <a:ext cx="12181855" cy="68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5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11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80F0AC-C794-7227-4122-9C9E427030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-4641"/>
            <a:ext cx="12183756" cy="68626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3">
            <a:extLst>
              <a:ext uri="{FF2B5EF4-FFF2-40B4-BE49-F238E27FC236}">
                <a16:creationId xmlns:a16="http://schemas.microsoft.com/office/drawing/2014/main" id="{7D8F9154-3135-E2FE-F30A-DDE2541D15AD}"/>
              </a:ext>
            </a:extLst>
          </p:cNvPr>
          <p:cNvSpPr/>
          <p:nvPr/>
        </p:nvSpPr>
        <p:spPr>
          <a:xfrm>
            <a:off x="2560320" y="1389888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</a:t>
            </a:r>
            <a:r>
              <a:rPr lang="ar-SA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</a:t>
            </a: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– مشروع افتتاح حدائق الملك عبدالله العالمية</a:t>
            </a:r>
            <a:endParaRPr lang="en-US" sz="32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52DA051-51DF-52AD-962A-C4B80F0643A0}"/>
              </a:ext>
            </a:extLst>
          </p:cNvPr>
          <p:cNvSpPr/>
          <p:nvPr/>
        </p:nvSpPr>
        <p:spPr>
          <a:xfrm>
            <a:off x="2560320" y="2304288"/>
            <a:ext cx="8915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00" b="1" dirty="0" err="1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رقم</a:t>
            </a:r>
            <a:r>
              <a:rPr lang="en-US" sz="17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الأسبوع ٢٠٢٦ | الفترة: اليوم</a:t>
            </a:r>
            <a:r>
              <a:rPr lang="ar-SA" sz="17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الشهر السنة</a:t>
            </a:r>
            <a:endParaRPr lang="en-US" sz="17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DED59DF-06D0-B3D7-70E2-AEB7B05CA06C}"/>
              </a:ext>
            </a:extLst>
          </p:cNvPr>
          <p:cNvSpPr/>
          <p:nvPr/>
        </p:nvSpPr>
        <p:spPr>
          <a:xfrm>
            <a:off x="2560319" y="2880360"/>
            <a:ext cx="8915399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DE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نموذج تنفيذي مرتب لمتابعة التقدم، المسارات الأربعة، المخاطر، القرارات، والسلامة والجودة.</a:t>
            </a:r>
            <a:endParaRPr lang="en-US" sz="1600" b="1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AF242DB4-3F29-6B87-0EDA-35B769A57365}"/>
              </a:ext>
            </a:extLst>
          </p:cNvPr>
          <p:cNvSpPr/>
          <p:nvPr/>
        </p:nvSpPr>
        <p:spPr>
          <a:xfrm>
            <a:off x="362468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0542FACC-87BC-A0F1-415C-DF69621BE75A}"/>
              </a:ext>
            </a:extLst>
          </p:cNvPr>
          <p:cNvSpPr/>
          <p:nvPr/>
        </p:nvSpPr>
        <p:spPr>
          <a:xfrm>
            <a:off x="361759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تجهيز وتفعيل الحديقة</a:t>
            </a:r>
            <a:endParaRPr lang="en-US" sz="74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9AB97EF6-3522-6E37-AC58-69516D17B7FE}"/>
              </a:ext>
            </a:extLst>
          </p:cNvPr>
          <p:cNvSpPr/>
          <p:nvPr/>
        </p:nvSpPr>
        <p:spPr>
          <a:xfrm>
            <a:off x="554492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1C8D82"/>
          </a:solidFill>
          <a:ln w="12700">
            <a:solidFill>
              <a:srgbClr val="1C8D82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5335A43-0CA9-B666-1997-63BBFB5F5EE2}"/>
              </a:ext>
            </a:extLst>
          </p:cNvPr>
          <p:cNvSpPr/>
          <p:nvPr/>
        </p:nvSpPr>
        <p:spPr>
          <a:xfrm>
            <a:off x="553783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الفعاليات والأنشطة المصاحبة</a:t>
            </a:r>
            <a:endParaRPr lang="en-US" sz="74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DD99CC7-9E7A-33A0-C1A7-77934F1127F1}"/>
              </a:ext>
            </a:extLst>
          </p:cNvPr>
          <p:cNvSpPr/>
          <p:nvPr/>
        </p:nvSpPr>
        <p:spPr>
          <a:xfrm>
            <a:off x="746516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3252352-2D8E-1651-524E-98AA5455CD0B}"/>
              </a:ext>
            </a:extLst>
          </p:cNvPr>
          <p:cNvSpPr/>
          <p:nvPr/>
        </p:nvSpPr>
        <p:spPr>
          <a:xfrm>
            <a:off x="745807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التواصل والتسويق</a:t>
            </a:r>
            <a:endParaRPr lang="en-US" sz="74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7AA0427-7A9B-EEB7-F03E-9561B0F863D5}"/>
              </a:ext>
            </a:extLst>
          </p:cNvPr>
          <p:cNvSpPr/>
          <p:nvPr/>
        </p:nvSpPr>
        <p:spPr>
          <a:xfrm>
            <a:off x="9385404" y="3657600"/>
            <a:ext cx="2044595" cy="445770"/>
          </a:xfrm>
          <a:prstGeom prst="roundRect">
            <a:avLst>
              <a:gd name="adj" fmla="val 17857"/>
            </a:avLst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23C972A-654B-AE26-49B8-EE5838CA21F2}"/>
              </a:ext>
            </a:extLst>
          </p:cNvPr>
          <p:cNvSpPr/>
          <p:nvPr/>
        </p:nvSpPr>
        <p:spPr>
          <a:xfrm>
            <a:off x="9378315" y="3790515"/>
            <a:ext cx="1978281" cy="20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التخطيط والتنسيق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ملخص يومي تنفيذي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٠٢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3355848" y="1005840"/>
            <a:ext cx="73152" cy="1508760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اليوم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914400" y="1426464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941832" y="1485900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أخضر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1600200" y="1426464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627632" y="1485900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أصفر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2286000" y="1426464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2313432" y="1485900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أحمر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822960" y="1856232"/>
            <a:ext cx="20574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الحالة: أ/أص/ح</a:t>
            </a:r>
            <a:endParaRPr lang="en-US" sz="920" dirty="0"/>
          </a:p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نسبة إنجاز اليوم: ٪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639312" y="10058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1" name="Shape 19"/>
          <p:cNvSpPr/>
          <p:nvPr/>
        </p:nvSpPr>
        <p:spPr>
          <a:xfrm>
            <a:off x="7498080" y="1005840"/>
            <a:ext cx="73152" cy="1508760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3767328" y="109728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3950208" y="1399032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إنجاز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إنجاز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إنجاز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772400" y="10058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11631168" y="1005840"/>
            <a:ext cx="73152" cy="150876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7900416" y="1097280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8092440" y="1399032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 نشاط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 نشاط</a:t>
            </a: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 نشاط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02920" y="278892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9" name="Shape 27"/>
          <p:cNvSpPr/>
          <p:nvPr/>
        </p:nvSpPr>
        <p:spPr>
          <a:xfrm>
            <a:off x="5961888" y="2788920"/>
            <a:ext cx="73152" cy="246888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630936" y="2880360"/>
            <a:ext cx="5239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أهم ملاحظات اليوم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391656" y="278892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3" name="Shape 31"/>
          <p:cNvSpPr/>
          <p:nvPr/>
        </p:nvSpPr>
        <p:spPr>
          <a:xfrm>
            <a:off x="11804904" y="2795451"/>
            <a:ext cx="73152" cy="2468880"/>
          </a:xfrm>
          <a:prstGeom prst="rect">
            <a:avLst/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6391656" y="2880360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القضايا الحرجة والتصعيد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6537960" y="3273552"/>
            <a:ext cx="14173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6565392" y="332384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الإجراء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7955280" y="3273552"/>
            <a:ext cx="9144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7982712" y="332384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8869680" y="3273552"/>
            <a:ext cx="14173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8897112" y="3323844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0287000" y="3273552"/>
            <a:ext cx="7772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10314432" y="3323844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1064240" y="3273552"/>
            <a:ext cx="6858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11091672" y="3323844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القضية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6537960" y="3566160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6569964" y="3611880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7955280" y="3566160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7987284" y="3611880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8869680" y="3566160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8901684" y="3611880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10287000" y="3566160"/>
            <a:ext cx="7772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 dirty="0"/>
          </a:p>
        </p:txBody>
      </p:sp>
      <p:sp>
        <p:nvSpPr>
          <p:cNvPr id="52" name="Text 50"/>
          <p:cNvSpPr/>
          <p:nvPr/>
        </p:nvSpPr>
        <p:spPr>
          <a:xfrm>
            <a:off x="10319004" y="3611880"/>
            <a:ext cx="7132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ar-SA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11064240" y="3566160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0" b="0" i="0" u="none" strike="noStrike" kern="1200" cap="none" spc="0" normalizeH="0" baseline="0" noProof="0" dirty="0">
                <a:ln>
                  <a:noFill/>
                </a:ln>
                <a:solidFill>
                  <a:srgbClr val="24374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قضية</a:t>
            </a:r>
            <a:endParaRPr kumimoji="0" lang="en-US" sz="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1096244" y="3611880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endParaRPr dirty="0"/>
          </a:p>
        </p:txBody>
      </p:sp>
      <p:sp>
        <p:nvSpPr>
          <p:cNvPr id="55" name="Shape 53"/>
          <p:cNvSpPr/>
          <p:nvPr/>
        </p:nvSpPr>
        <p:spPr>
          <a:xfrm>
            <a:off x="6537960" y="3950208"/>
            <a:ext cx="14173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6" name="Text 54"/>
          <p:cNvSpPr/>
          <p:nvPr/>
        </p:nvSpPr>
        <p:spPr>
          <a:xfrm>
            <a:off x="6569964" y="3995928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7955280" y="3950208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8" name="Text 56"/>
          <p:cNvSpPr/>
          <p:nvPr/>
        </p:nvSpPr>
        <p:spPr>
          <a:xfrm>
            <a:off x="7987284" y="3995928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8869680" y="3950208"/>
            <a:ext cx="14173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0" name="Text 58"/>
          <p:cNvSpPr/>
          <p:nvPr/>
        </p:nvSpPr>
        <p:spPr>
          <a:xfrm>
            <a:off x="8901684" y="3995928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61" name="Shape 59"/>
          <p:cNvSpPr/>
          <p:nvPr/>
        </p:nvSpPr>
        <p:spPr>
          <a:xfrm>
            <a:off x="10287000" y="3950208"/>
            <a:ext cx="7772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2" name="Text 60"/>
          <p:cNvSpPr/>
          <p:nvPr/>
        </p:nvSpPr>
        <p:spPr>
          <a:xfrm>
            <a:off x="10319004" y="3995928"/>
            <a:ext cx="7132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63" name="Shape 61"/>
          <p:cNvSpPr/>
          <p:nvPr/>
        </p:nvSpPr>
        <p:spPr>
          <a:xfrm>
            <a:off x="11064240" y="3950208"/>
            <a:ext cx="6858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4" name="Text 62"/>
          <p:cNvSpPr/>
          <p:nvPr/>
        </p:nvSpPr>
        <p:spPr>
          <a:xfrm>
            <a:off x="11096244" y="3995928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قضية</a:t>
            </a:r>
            <a:endParaRPr lang="en-US" sz="670" dirty="0"/>
          </a:p>
        </p:txBody>
      </p:sp>
      <p:sp>
        <p:nvSpPr>
          <p:cNvPr id="65" name="Shape 63"/>
          <p:cNvSpPr/>
          <p:nvPr/>
        </p:nvSpPr>
        <p:spPr>
          <a:xfrm>
            <a:off x="6537960" y="4334256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6" name="Text 64"/>
          <p:cNvSpPr/>
          <p:nvPr/>
        </p:nvSpPr>
        <p:spPr>
          <a:xfrm>
            <a:off x="6569964" y="4379976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67" name="Shape 65"/>
          <p:cNvSpPr/>
          <p:nvPr/>
        </p:nvSpPr>
        <p:spPr>
          <a:xfrm>
            <a:off x="7955280" y="433425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8" name="Text 66"/>
          <p:cNvSpPr/>
          <p:nvPr/>
        </p:nvSpPr>
        <p:spPr>
          <a:xfrm>
            <a:off x="7987284" y="437997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69" name="Shape 67"/>
          <p:cNvSpPr/>
          <p:nvPr/>
        </p:nvSpPr>
        <p:spPr>
          <a:xfrm>
            <a:off x="8869680" y="4334256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0" name="Text 68"/>
          <p:cNvSpPr/>
          <p:nvPr/>
        </p:nvSpPr>
        <p:spPr>
          <a:xfrm>
            <a:off x="8901684" y="4379976"/>
            <a:ext cx="13533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71" name="Shape 69"/>
          <p:cNvSpPr/>
          <p:nvPr/>
        </p:nvSpPr>
        <p:spPr>
          <a:xfrm>
            <a:off x="10287000" y="4334256"/>
            <a:ext cx="7772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2" name="Text 70"/>
          <p:cNvSpPr/>
          <p:nvPr/>
        </p:nvSpPr>
        <p:spPr>
          <a:xfrm>
            <a:off x="10319004" y="4379976"/>
            <a:ext cx="7132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73" name="Shape 71"/>
          <p:cNvSpPr/>
          <p:nvPr/>
        </p:nvSpPr>
        <p:spPr>
          <a:xfrm>
            <a:off x="11064240" y="4334256"/>
            <a:ext cx="685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4" name="Text 72"/>
          <p:cNvSpPr/>
          <p:nvPr/>
        </p:nvSpPr>
        <p:spPr>
          <a:xfrm>
            <a:off x="11096244" y="4379976"/>
            <a:ext cx="6217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قضية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المسارات الأربعة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٠٣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11201400" cy="4416552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11744716" y="960120"/>
            <a:ext cx="51044" cy="4462272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حالة المسارات اليومية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508760"/>
            <a:ext cx="22402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5905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الدعم المطلوب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017520" y="1508760"/>
            <a:ext cx="19202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3044952" y="155905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937760" y="1508760"/>
            <a:ext cx="19202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4965192" y="155905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خطة الغد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858000" y="1508760"/>
            <a:ext cx="192024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6885432" y="155905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خطة اليوم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778240" y="1508760"/>
            <a:ext cx="86868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8805672" y="1559052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إنجاز أمس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646920" y="1508760"/>
            <a:ext cx="2057400" cy="292608"/>
          </a:xfrm>
          <a:prstGeom prst="rect">
            <a:avLst/>
          </a:prstGeom>
          <a:solidFill>
            <a:srgbClr val="08283B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9674352" y="1559052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المسار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7240" y="1801368"/>
            <a:ext cx="22402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809244" y="1847088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3017520" y="1801368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3049524" y="1847088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937760" y="1801368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4969764" y="1847088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858000" y="1801368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6890004" y="1847088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8778240" y="1801368"/>
            <a:ext cx="8686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8810244" y="1847088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9646920" y="1801368"/>
            <a:ext cx="2057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9678924" y="1847088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التخطيط والتنسيق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777240" y="2368296"/>
            <a:ext cx="22402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09244" y="2414016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3017520" y="2368296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3049524" y="2414016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4937760" y="2368296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4969764" y="2414016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858000" y="2368296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6890004" y="2414016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8778240" y="2368296"/>
            <a:ext cx="8686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8810244" y="2414016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9646920" y="2368296"/>
            <a:ext cx="205740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9678924" y="2414016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التواصل والتسويق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777240" y="2935224"/>
            <a:ext cx="22402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809244" y="2980944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3017520" y="2935224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2" name="Text 50"/>
          <p:cNvSpPr/>
          <p:nvPr/>
        </p:nvSpPr>
        <p:spPr>
          <a:xfrm>
            <a:off x="3049524" y="2980944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4937760" y="2935224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4" name="Text 52"/>
          <p:cNvSpPr/>
          <p:nvPr/>
        </p:nvSpPr>
        <p:spPr>
          <a:xfrm>
            <a:off x="4969764" y="2980944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6858000" y="2935224"/>
            <a:ext cx="1920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6" name="Text 54"/>
          <p:cNvSpPr/>
          <p:nvPr/>
        </p:nvSpPr>
        <p:spPr>
          <a:xfrm>
            <a:off x="6890004" y="2980944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8778240" y="2935224"/>
            <a:ext cx="8686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8" name="Text 56"/>
          <p:cNvSpPr/>
          <p:nvPr/>
        </p:nvSpPr>
        <p:spPr>
          <a:xfrm>
            <a:off x="8810244" y="2980944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9646920" y="2935224"/>
            <a:ext cx="2057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0" name="Text 58"/>
          <p:cNvSpPr/>
          <p:nvPr/>
        </p:nvSpPr>
        <p:spPr>
          <a:xfrm>
            <a:off x="9678924" y="2980944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الفعاليات والأنشطة المصاحبة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777240" y="3502152"/>
            <a:ext cx="22402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2" name="Text 60"/>
          <p:cNvSpPr/>
          <p:nvPr/>
        </p:nvSpPr>
        <p:spPr>
          <a:xfrm>
            <a:off x="809244" y="3547872"/>
            <a:ext cx="21762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قرار/اعتماد/تنسيق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3017520" y="3502152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4" name="Text 62"/>
          <p:cNvSpPr/>
          <p:nvPr/>
        </p:nvSpPr>
        <p:spPr>
          <a:xfrm>
            <a:off x="3049524" y="3547872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أ/أص/ح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4937760" y="3502152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6" name="Text 64"/>
          <p:cNvSpPr/>
          <p:nvPr/>
        </p:nvSpPr>
        <p:spPr>
          <a:xfrm>
            <a:off x="4969764" y="3547872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6858000" y="3502152"/>
            <a:ext cx="192024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8" name="Text 66"/>
          <p:cNvSpPr/>
          <p:nvPr/>
        </p:nvSpPr>
        <p:spPr>
          <a:xfrm>
            <a:off x="6890004" y="3547872"/>
            <a:ext cx="185623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8778240" y="3502152"/>
            <a:ext cx="86868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0" name="Text 68"/>
          <p:cNvSpPr/>
          <p:nvPr/>
        </p:nvSpPr>
        <p:spPr>
          <a:xfrm>
            <a:off x="8810244" y="3547872"/>
            <a:ext cx="80467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مختصر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9646920" y="3502152"/>
            <a:ext cx="2057400" cy="56692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2" name="Text 70"/>
          <p:cNvSpPr/>
          <p:nvPr/>
        </p:nvSpPr>
        <p:spPr>
          <a:xfrm>
            <a:off x="9678924" y="3547872"/>
            <a:ext cx="1993392" cy="47548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تجهيز وتفعيل الحديقة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السلامة والجودة اليومية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٠٤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11201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11631168" y="1005840"/>
            <a:ext cx="73152" cy="2011680"/>
          </a:xfrm>
          <a:prstGeom prst="rect">
            <a:avLst/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مؤشرات السلامة اليومية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2103120" y="1481328"/>
            <a:ext cx="12344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2130552" y="15316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إجراءات فورية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33756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336499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إيقافات سلامة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663440" y="1481328"/>
            <a:ext cx="13258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4690872" y="153162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حوادث مسجلة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989320" y="1481328"/>
            <a:ext cx="22860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6016752" y="1531620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شبه حادث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275320" y="1481328"/>
            <a:ext cx="25146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8302752" y="1531620"/>
            <a:ext cx="2459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ساعات العمل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72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8092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2103120" y="1773936"/>
            <a:ext cx="12344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2135124" y="1819656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15" dirty="0"/>
          </a:p>
        </p:txBody>
      </p:sp>
      <p:sp>
        <p:nvSpPr>
          <p:cNvPr id="29" name="Shape 27"/>
          <p:cNvSpPr/>
          <p:nvPr/>
        </p:nvSpPr>
        <p:spPr>
          <a:xfrm>
            <a:off x="333756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336956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31" name="Shape 29"/>
          <p:cNvSpPr/>
          <p:nvPr/>
        </p:nvSpPr>
        <p:spPr>
          <a:xfrm>
            <a:off x="4663440" y="1773936"/>
            <a:ext cx="132588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4695444" y="1819656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33" name="Shape 31"/>
          <p:cNvSpPr/>
          <p:nvPr/>
        </p:nvSpPr>
        <p:spPr>
          <a:xfrm>
            <a:off x="5989320" y="1773936"/>
            <a:ext cx="22860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6021324" y="1819656"/>
            <a:ext cx="22219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35" name="Shape 33"/>
          <p:cNvSpPr/>
          <p:nvPr/>
        </p:nvSpPr>
        <p:spPr>
          <a:xfrm>
            <a:off x="8275320" y="1773936"/>
            <a:ext cx="251460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8307324" y="1819656"/>
            <a:ext cx="24505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15" dirty="0"/>
          </a:p>
        </p:txBody>
      </p:sp>
      <p:sp>
        <p:nvSpPr>
          <p:cNvPr id="37" name="Shape 35"/>
          <p:cNvSpPr/>
          <p:nvPr/>
        </p:nvSpPr>
        <p:spPr>
          <a:xfrm>
            <a:off x="7772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092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حر</a:t>
            </a:r>
            <a:endParaRPr lang="en-US" sz="715" dirty="0"/>
          </a:p>
        </p:txBody>
      </p:sp>
      <p:sp>
        <p:nvSpPr>
          <p:cNvPr id="39" name="Shape 37"/>
          <p:cNvSpPr/>
          <p:nvPr/>
        </p:nvSpPr>
        <p:spPr>
          <a:xfrm>
            <a:off x="2103120" y="2167128"/>
            <a:ext cx="123444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2135124" y="2212848"/>
            <a:ext cx="117043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إجراء/مالك/وقت</a:t>
            </a:r>
            <a:endParaRPr lang="en-US" sz="715" dirty="0"/>
          </a:p>
        </p:txBody>
      </p:sp>
      <p:sp>
        <p:nvSpPr>
          <p:cNvPr id="41" name="Shape 39"/>
          <p:cNvSpPr/>
          <p:nvPr/>
        </p:nvSpPr>
        <p:spPr>
          <a:xfrm>
            <a:off x="333756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336956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43" name="Shape 41"/>
          <p:cNvSpPr/>
          <p:nvPr/>
        </p:nvSpPr>
        <p:spPr>
          <a:xfrm>
            <a:off x="4663440" y="2167128"/>
            <a:ext cx="132588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4695444" y="2212848"/>
            <a:ext cx="126187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45" name="Shape 43"/>
          <p:cNvSpPr/>
          <p:nvPr/>
        </p:nvSpPr>
        <p:spPr>
          <a:xfrm>
            <a:off x="5989320" y="2167128"/>
            <a:ext cx="228600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6021324" y="2212848"/>
            <a:ext cx="22219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47" name="Shape 45"/>
          <p:cNvSpPr/>
          <p:nvPr/>
        </p:nvSpPr>
        <p:spPr>
          <a:xfrm>
            <a:off x="8275320" y="2167128"/>
            <a:ext cx="251460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8307324" y="2212848"/>
            <a:ext cx="245059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٠٠٠٠</a:t>
            </a:r>
            <a:endParaRPr lang="en-US" sz="715" dirty="0"/>
          </a:p>
        </p:txBody>
      </p:sp>
      <p:sp>
        <p:nvSpPr>
          <p:cNvPr id="49" name="Shape 47"/>
          <p:cNvSpPr/>
          <p:nvPr/>
        </p:nvSpPr>
        <p:spPr>
          <a:xfrm>
            <a:off x="502920" y="3429000"/>
            <a:ext cx="11201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Shape 48"/>
          <p:cNvSpPr/>
          <p:nvPr/>
        </p:nvSpPr>
        <p:spPr>
          <a:xfrm>
            <a:off x="11631168" y="3429000"/>
            <a:ext cx="73152" cy="210312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1" name="Text 49"/>
          <p:cNvSpPr/>
          <p:nvPr/>
        </p:nvSpPr>
        <p:spPr>
          <a:xfrm>
            <a:off x="630936" y="352044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الجودة والجاهزية</a:t>
            </a:r>
            <a:endParaRPr lang="en-US" sz="1040" dirty="0"/>
          </a:p>
        </p:txBody>
      </p:sp>
      <p:sp>
        <p:nvSpPr>
          <p:cNvPr id="52" name="Shape 50"/>
          <p:cNvSpPr/>
          <p:nvPr/>
        </p:nvSpPr>
        <p:spPr>
          <a:xfrm>
            <a:off x="777240" y="3913632"/>
            <a:ext cx="21031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3" name="Text 51"/>
          <p:cNvSpPr/>
          <p:nvPr/>
        </p:nvSpPr>
        <p:spPr>
          <a:xfrm>
            <a:off x="804672" y="396392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 الغد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2880360" y="3913632"/>
            <a:ext cx="25603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5" name="Text 53"/>
          <p:cNvSpPr/>
          <p:nvPr/>
        </p:nvSpPr>
        <p:spPr>
          <a:xfrm>
            <a:off x="2907792" y="396392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مقفلة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440680" y="3913632"/>
            <a:ext cx="12801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7" name="Text 55"/>
          <p:cNvSpPr/>
          <p:nvPr/>
        </p:nvSpPr>
        <p:spPr>
          <a:xfrm>
            <a:off x="5468112" y="39639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عدم المطابقة مفتوحة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6720840" y="3913632"/>
            <a:ext cx="12801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9" name="Text 57"/>
          <p:cNvSpPr/>
          <p:nvPr/>
        </p:nvSpPr>
        <p:spPr>
          <a:xfrm>
            <a:off x="6748272" y="39639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ملاحظات جودة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8001000" y="3913632"/>
            <a:ext cx="27889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1" name="Text 59"/>
          <p:cNvSpPr/>
          <p:nvPr/>
        </p:nvSpPr>
        <p:spPr>
          <a:xfrm>
            <a:off x="8028432" y="3963924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تفتيشات اليوم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777240" y="4206240"/>
            <a:ext cx="21031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3" name="Text 61"/>
          <p:cNvSpPr/>
          <p:nvPr/>
        </p:nvSpPr>
        <p:spPr>
          <a:xfrm>
            <a:off x="809244" y="4251960"/>
            <a:ext cx="20391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15" dirty="0"/>
          </a:p>
        </p:txBody>
      </p:sp>
      <p:sp>
        <p:nvSpPr>
          <p:cNvPr id="64" name="Shape 62"/>
          <p:cNvSpPr/>
          <p:nvPr/>
        </p:nvSpPr>
        <p:spPr>
          <a:xfrm>
            <a:off x="2880360" y="4206240"/>
            <a:ext cx="25603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5" name="Text 63"/>
          <p:cNvSpPr/>
          <p:nvPr/>
        </p:nvSpPr>
        <p:spPr>
          <a:xfrm>
            <a:off x="2912364" y="4251960"/>
            <a:ext cx="24963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66" name="Shape 64"/>
          <p:cNvSpPr/>
          <p:nvPr/>
        </p:nvSpPr>
        <p:spPr>
          <a:xfrm>
            <a:off x="5440680" y="4206240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7" name="Text 65"/>
          <p:cNvSpPr/>
          <p:nvPr/>
        </p:nvSpPr>
        <p:spPr>
          <a:xfrm>
            <a:off x="5472684" y="4251960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68" name="Shape 66"/>
          <p:cNvSpPr/>
          <p:nvPr/>
        </p:nvSpPr>
        <p:spPr>
          <a:xfrm>
            <a:off x="6720840" y="4206240"/>
            <a:ext cx="12801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9" name="Text 67"/>
          <p:cNvSpPr/>
          <p:nvPr/>
        </p:nvSpPr>
        <p:spPr>
          <a:xfrm>
            <a:off x="6752844" y="4251960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15" dirty="0"/>
          </a:p>
        </p:txBody>
      </p:sp>
      <p:sp>
        <p:nvSpPr>
          <p:cNvPr id="70" name="Shape 68"/>
          <p:cNvSpPr/>
          <p:nvPr/>
        </p:nvSpPr>
        <p:spPr>
          <a:xfrm>
            <a:off x="8001000" y="4206240"/>
            <a:ext cx="27889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1" name="Text 69"/>
          <p:cNvSpPr/>
          <p:nvPr/>
        </p:nvSpPr>
        <p:spPr>
          <a:xfrm>
            <a:off x="8033004" y="4251960"/>
            <a:ext cx="27249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15" dirty="0"/>
          </a:p>
        </p:txBody>
      </p:sp>
      <p:sp>
        <p:nvSpPr>
          <p:cNvPr id="72" name="Shape 70"/>
          <p:cNvSpPr/>
          <p:nvPr/>
        </p:nvSpPr>
        <p:spPr>
          <a:xfrm>
            <a:off x="777240" y="4599432"/>
            <a:ext cx="210312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3" name="Text 71"/>
          <p:cNvSpPr/>
          <p:nvPr/>
        </p:nvSpPr>
        <p:spPr>
          <a:xfrm>
            <a:off x="809244" y="4645152"/>
            <a:ext cx="20391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715" dirty="0"/>
          </a:p>
        </p:txBody>
      </p:sp>
      <p:sp>
        <p:nvSpPr>
          <p:cNvPr id="74" name="Shape 72"/>
          <p:cNvSpPr/>
          <p:nvPr/>
        </p:nvSpPr>
        <p:spPr>
          <a:xfrm>
            <a:off x="2880360" y="4599432"/>
            <a:ext cx="256032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5" name="Text 73"/>
          <p:cNvSpPr/>
          <p:nvPr/>
        </p:nvSpPr>
        <p:spPr>
          <a:xfrm>
            <a:off x="2912364" y="4645152"/>
            <a:ext cx="24963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76" name="Shape 74"/>
          <p:cNvSpPr/>
          <p:nvPr/>
        </p:nvSpPr>
        <p:spPr>
          <a:xfrm>
            <a:off x="5440680" y="4599432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7" name="Text 75"/>
          <p:cNvSpPr/>
          <p:nvPr/>
        </p:nvSpPr>
        <p:spPr>
          <a:xfrm>
            <a:off x="5472684" y="4645152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15" dirty="0"/>
          </a:p>
        </p:txBody>
      </p:sp>
      <p:sp>
        <p:nvSpPr>
          <p:cNvPr id="78" name="Shape 76"/>
          <p:cNvSpPr/>
          <p:nvPr/>
        </p:nvSpPr>
        <p:spPr>
          <a:xfrm>
            <a:off x="6720840" y="4599432"/>
            <a:ext cx="128016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9" name="Text 77"/>
          <p:cNvSpPr/>
          <p:nvPr/>
        </p:nvSpPr>
        <p:spPr>
          <a:xfrm>
            <a:off x="6752844" y="4645152"/>
            <a:ext cx="121615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ملاحظة</a:t>
            </a:r>
            <a:endParaRPr lang="en-US" sz="715" dirty="0"/>
          </a:p>
        </p:txBody>
      </p:sp>
      <p:sp>
        <p:nvSpPr>
          <p:cNvPr id="80" name="Shape 78"/>
          <p:cNvSpPr/>
          <p:nvPr/>
        </p:nvSpPr>
        <p:spPr>
          <a:xfrm>
            <a:off x="8001000" y="4599432"/>
            <a:ext cx="2788920" cy="393192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1" name="Text 79"/>
          <p:cNvSpPr/>
          <p:nvPr/>
        </p:nvSpPr>
        <p:spPr>
          <a:xfrm>
            <a:off x="8033004" y="4645152"/>
            <a:ext cx="2724912" cy="301752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عدد/موقع</a:t>
            </a:r>
            <a:endParaRPr lang="en-US" sz="71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المخاطر والقضايا والقرارات اليومية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٠٥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00584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6172075" y="1005840"/>
            <a:ext cx="73152" cy="2148840"/>
          </a:xfrm>
          <a:prstGeom prst="rect">
            <a:avLst/>
          </a:prstGeom>
          <a:solidFill>
            <a:srgbClr val="D64D3F"/>
          </a:solidFill>
          <a:ln w="12700">
            <a:solidFill>
              <a:srgbClr val="D64D3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 err="1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أهم</a:t>
            </a:r>
            <a:r>
              <a:rPr lang="en-US" sz="1040" b="1" dirty="0">
                <a:solidFill>
                  <a:srgbClr val="D64D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المخاطر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481328"/>
            <a:ext cx="50292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31620"/>
            <a:ext cx="448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280160" y="1481328"/>
            <a:ext cx="178308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307592" y="153162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آخر موعد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063240" y="1481328"/>
            <a:ext cx="9144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3090672" y="153162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977640" y="1481328"/>
            <a:ext cx="160020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400507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577840" y="1481328"/>
            <a:ext cx="548640" cy="292608"/>
          </a:xfrm>
          <a:prstGeom prst="rect">
            <a:avLst/>
          </a:prstGeom>
          <a:solidFill>
            <a:srgbClr val="D64D3F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5605272" y="153162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الحالة اللونية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777240" y="1773936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809244" y="1819656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1280160" y="1773936"/>
            <a:ext cx="17830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1312164" y="1819656"/>
            <a:ext cx="17190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3063240" y="1773936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3095244" y="1819656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397764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400964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5577840" y="1773936"/>
            <a:ext cx="548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5609844" y="1819656"/>
            <a:ext cx="484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ح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77240" y="2157984"/>
            <a:ext cx="502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809244" y="2203704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1280160" y="2157984"/>
            <a:ext cx="17830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1312164" y="2203704"/>
            <a:ext cx="17190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3063240" y="2157984"/>
            <a:ext cx="9144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3095244" y="2203704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397764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400964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577840" y="2157984"/>
            <a:ext cx="54864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5609844" y="2203704"/>
            <a:ext cx="484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أص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777240" y="2542032"/>
            <a:ext cx="502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809244" y="2587752"/>
            <a:ext cx="438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1280160" y="2542032"/>
            <a:ext cx="17830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1312164" y="2587752"/>
            <a:ext cx="17190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3063240" y="2542032"/>
            <a:ext cx="9144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3095244" y="2587752"/>
            <a:ext cx="8503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397764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400964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قرار/اعتماد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5577840" y="2542032"/>
            <a:ext cx="54864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2" name="Text 50"/>
          <p:cNvSpPr/>
          <p:nvPr/>
        </p:nvSpPr>
        <p:spPr>
          <a:xfrm>
            <a:off x="5609844" y="2587752"/>
            <a:ext cx="48463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6482595" y="10058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4" name="Shape 52"/>
          <p:cNvSpPr/>
          <p:nvPr/>
        </p:nvSpPr>
        <p:spPr>
          <a:xfrm>
            <a:off x="11819058" y="1005840"/>
            <a:ext cx="73152" cy="214884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5" name="Text 53"/>
          <p:cNvSpPr/>
          <p:nvPr/>
        </p:nvSpPr>
        <p:spPr>
          <a:xfrm>
            <a:off x="6437376" y="1097280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قرارات واعتمادات مطلوبة اليوم</a:t>
            </a:r>
            <a:endParaRPr lang="en-US" sz="1040" dirty="0"/>
          </a:p>
        </p:txBody>
      </p:sp>
      <p:sp>
        <p:nvSpPr>
          <p:cNvPr id="56" name="Shape 54"/>
          <p:cNvSpPr/>
          <p:nvPr/>
        </p:nvSpPr>
        <p:spPr>
          <a:xfrm>
            <a:off x="6583680" y="1481328"/>
            <a:ext cx="164592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7" name="Text 55"/>
          <p:cNvSpPr/>
          <p:nvPr/>
        </p:nvSpPr>
        <p:spPr>
          <a:xfrm>
            <a:off x="6611112" y="15316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الإجراء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8229600" y="1481328"/>
            <a:ext cx="160020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9" name="Text 57"/>
          <p:cNvSpPr/>
          <p:nvPr/>
        </p:nvSpPr>
        <p:spPr>
          <a:xfrm>
            <a:off x="8257032" y="153162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الأثر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9829800" y="1481328"/>
            <a:ext cx="105156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1" name="Text 59"/>
          <p:cNvSpPr/>
          <p:nvPr/>
        </p:nvSpPr>
        <p:spPr>
          <a:xfrm>
            <a:off x="9857232" y="153162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الوصف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10881360" y="1481328"/>
            <a:ext cx="868680" cy="292608"/>
          </a:xfrm>
          <a:prstGeom prst="rect">
            <a:avLst/>
          </a:prstGeom>
          <a:solidFill>
            <a:srgbClr val="C9A24A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3" name="Text 61"/>
          <p:cNvSpPr/>
          <p:nvPr/>
        </p:nvSpPr>
        <p:spPr>
          <a:xfrm>
            <a:off x="10908792" y="15316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الرمز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6583680" y="1773936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5" name="Text 63"/>
          <p:cNvSpPr/>
          <p:nvPr/>
        </p:nvSpPr>
        <p:spPr>
          <a:xfrm>
            <a:off x="6615684" y="1819656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66" name="Shape 64"/>
          <p:cNvSpPr/>
          <p:nvPr/>
        </p:nvSpPr>
        <p:spPr>
          <a:xfrm>
            <a:off x="8229600" y="1773936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7" name="Text 65"/>
          <p:cNvSpPr/>
          <p:nvPr/>
        </p:nvSpPr>
        <p:spPr>
          <a:xfrm>
            <a:off x="8261604" y="1819656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68" name="Shape 66"/>
          <p:cNvSpPr/>
          <p:nvPr/>
        </p:nvSpPr>
        <p:spPr>
          <a:xfrm>
            <a:off x="9829800" y="1773936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9" name="Text 67"/>
          <p:cNvSpPr/>
          <p:nvPr/>
        </p:nvSpPr>
        <p:spPr>
          <a:xfrm>
            <a:off x="9861804" y="1819656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70" dirty="0"/>
          </a:p>
        </p:txBody>
      </p:sp>
      <p:sp>
        <p:nvSpPr>
          <p:cNvPr id="70" name="Shape 68"/>
          <p:cNvSpPr/>
          <p:nvPr/>
        </p:nvSpPr>
        <p:spPr>
          <a:xfrm>
            <a:off x="10881360" y="1773936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1" name="Text 69"/>
          <p:cNvSpPr/>
          <p:nvPr/>
        </p:nvSpPr>
        <p:spPr>
          <a:xfrm>
            <a:off x="10913364" y="1819656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خطر/قضية-١</a:t>
            </a:r>
            <a:endParaRPr lang="en-US" sz="670" dirty="0"/>
          </a:p>
        </p:txBody>
      </p:sp>
      <p:sp>
        <p:nvSpPr>
          <p:cNvPr id="72" name="Shape 70"/>
          <p:cNvSpPr/>
          <p:nvPr/>
        </p:nvSpPr>
        <p:spPr>
          <a:xfrm>
            <a:off x="6583680" y="2157984"/>
            <a:ext cx="164592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3" name="Text 71"/>
          <p:cNvSpPr/>
          <p:nvPr/>
        </p:nvSpPr>
        <p:spPr>
          <a:xfrm>
            <a:off x="6615684" y="2203704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74" name="Shape 72"/>
          <p:cNvSpPr/>
          <p:nvPr/>
        </p:nvSpPr>
        <p:spPr>
          <a:xfrm>
            <a:off x="8229600" y="2157984"/>
            <a:ext cx="160020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5" name="Text 73"/>
          <p:cNvSpPr/>
          <p:nvPr/>
        </p:nvSpPr>
        <p:spPr>
          <a:xfrm>
            <a:off x="8261604" y="2203704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76" name="Shape 74"/>
          <p:cNvSpPr/>
          <p:nvPr/>
        </p:nvSpPr>
        <p:spPr>
          <a:xfrm>
            <a:off x="9829800" y="2157984"/>
            <a:ext cx="105156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7" name="Text 75"/>
          <p:cNvSpPr/>
          <p:nvPr/>
        </p:nvSpPr>
        <p:spPr>
          <a:xfrm>
            <a:off x="9861804" y="2203704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70" dirty="0"/>
          </a:p>
        </p:txBody>
      </p:sp>
      <p:sp>
        <p:nvSpPr>
          <p:cNvPr id="78" name="Shape 76"/>
          <p:cNvSpPr/>
          <p:nvPr/>
        </p:nvSpPr>
        <p:spPr>
          <a:xfrm>
            <a:off x="10881360" y="2157984"/>
            <a:ext cx="868680" cy="384048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9" name="Text 77"/>
          <p:cNvSpPr/>
          <p:nvPr/>
        </p:nvSpPr>
        <p:spPr>
          <a:xfrm>
            <a:off x="10913364" y="2203704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خطر/قضية-٢</a:t>
            </a:r>
            <a:endParaRPr lang="en-US" sz="670" dirty="0"/>
          </a:p>
        </p:txBody>
      </p:sp>
      <p:sp>
        <p:nvSpPr>
          <p:cNvPr id="80" name="Shape 78"/>
          <p:cNvSpPr/>
          <p:nvPr/>
        </p:nvSpPr>
        <p:spPr>
          <a:xfrm>
            <a:off x="6583680" y="2542032"/>
            <a:ext cx="16459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1" name="Text 79"/>
          <p:cNvSpPr/>
          <p:nvPr/>
        </p:nvSpPr>
        <p:spPr>
          <a:xfrm>
            <a:off x="6615684" y="2587752"/>
            <a:ext cx="158191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إجراء</a:t>
            </a:r>
            <a:endParaRPr lang="en-US" sz="670" dirty="0"/>
          </a:p>
        </p:txBody>
      </p:sp>
      <p:sp>
        <p:nvSpPr>
          <p:cNvPr id="82" name="Shape 80"/>
          <p:cNvSpPr/>
          <p:nvPr/>
        </p:nvSpPr>
        <p:spPr>
          <a:xfrm>
            <a:off x="8229600" y="2542032"/>
            <a:ext cx="16002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3" name="Text 81"/>
          <p:cNvSpPr/>
          <p:nvPr/>
        </p:nvSpPr>
        <p:spPr>
          <a:xfrm>
            <a:off x="8261604" y="2587752"/>
            <a:ext cx="153619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أثر</a:t>
            </a:r>
            <a:endParaRPr lang="en-US" sz="670" dirty="0"/>
          </a:p>
        </p:txBody>
      </p:sp>
      <p:sp>
        <p:nvSpPr>
          <p:cNvPr id="84" name="Shape 82"/>
          <p:cNvSpPr/>
          <p:nvPr/>
        </p:nvSpPr>
        <p:spPr>
          <a:xfrm>
            <a:off x="9829800" y="2542032"/>
            <a:ext cx="105156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5" name="Text 83"/>
          <p:cNvSpPr/>
          <p:nvPr/>
        </p:nvSpPr>
        <p:spPr>
          <a:xfrm>
            <a:off x="9861804" y="2587752"/>
            <a:ext cx="98755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وصف</a:t>
            </a:r>
            <a:endParaRPr lang="en-US" sz="670" dirty="0"/>
          </a:p>
        </p:txBody>
      </p:sp>
      <p:sp>
        <p:nvSpPr>
          <p:cNvPr id="86" name="Shape 84"/>
          <p:cNvSpPr/>
          <p:nvPr/>
        </p:nvSpPr>
        <p:spPr>
          <a:xfrm>
            <a:off x="10881360" y="2542032"/>
            <a:ext cx="86868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7" name="Text 85"/>
          <p:cNvSpPr/>
          <p:nvPr/>
        </p:nvSpPr>
        <p:spPr>
          <a:xfrm>
            <a:off x="10913364" y="2587752"/>
            <a:ext cx="804672" cy="292608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67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خطر/قضية-٣</a:t>
            </a:r>
            <a:endParaRPr lang="en-US" sz="670" dirty="0"/>
          </a:p>
        </p:txBody>
      </p:sp>
      <p:sp>
        <p:nvSpPr>
          <p:cNvPr id="88" name="Shape 86"/>
          <p:cNvSpPr/>
          <p:nvPr/>
        </p:nvSpPr>
        <p:spPr>
          <a:xfrm>
            <a:off x="502920" y="3611880"/>
            <a:ext cx="11201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89" name="Shape 87"/>
          <p:cNvSpPr/>
          <p:nvPr/>
        </p:nvSpPr>
        <p:spPr>
          <a:xfrm>
            <a:off x="11631168" y="3611880"/>
            <a:ext cx="73152" cy="169164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90" name="Text 88"/>
          <p:cNvSpPr/>
          <p:nvPr/>
        </p:nvSpPr>
        <p:spPr>
          <a:xfrm>
            <a:off x="630936" y="370332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خطة المعالجة والمتابعة</a:t>
            </a:r>
            <a:endParaRPr lang="en-US" sz="1040" dirty="0"/>
          </a:p>
        </p:txBody>
      </p:sp>
      <p:sp>
        <p:nvSpPr>
          <p:cNvPr id="91" name="Text 89"/>
          <p:cNvSpPr/>
          <p:nvPr/>
        </p:nvSpPr>
        <p:spPr>
          <a:xfrm>
            <a:off x="868680" y="4069080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إجراء متابعة ١ + مالك + وقت</a:t>
            </a:r>
            <a:endParaRPr lang="en-US" sz="920" dirty="0"/>
          </a:p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إجراء متابعة ٢ + مالك + وقت</a:t>
            </a:r>
            <a:endParaRPr lang="en-US" sz="920" dirty="0"/>
          </a:p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إجراء متابعة ٣ + مالك + وقت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 </a:t>
            </a: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٠٦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9601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 rtl="1">
              <a:buNone/>
            </a:pP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الجدول الزمني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ar-SA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</a:t>
            </a:r>
            <a:r>
              <a:rPr lang="en-US" sz="21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يومي: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8368" y="133502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 = ما تم إنجازه | اليوم = ما يتم إنجازه الآن | غداً = ما سيتم إنجازه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17320" y="3017520"/>
            <a:ext cx="9372600" cy="0"/>
          </a:xfrm>
          <a:prstGeom prst="line">
            <a:avLst/>
          </a:prstGeom>
          <a:noFill/>
          <a:ln w="2032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3" name="Shape 11"/>
          <p:cNvSpPr/>
          <p:nvPr/>
        </p:nvSpPr>
        <p:spPr>
          <a:xfrm>
            <a:off x="2084832" y="2862072"/>
            <a:ext cx="310896" cy="310896"/>
          </a:xfrm>
          <a:prstGeom prst="ellipse">
            <a:avLst/>
          </a:prstGeom>
          <a:solidFill>
            <a:srgbClr val="2FA65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Shape 12"/>
          <p:cNvSpPr/>
          <p:nvPr/>
        </p:nvSpPr>
        <p:spPr>
          <a:xfrm>
            <a:off x="2240280" y="286207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5" name="Shape 13"/>
          <p:cNvSpPr/>
          <p:nvPr/>
        </p:nvSpPr>
        <p:spPr>
          <a:xfrm>
            <a:off x="1856232" y="17647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695774" y="182422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مستقبلي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299374" y="21305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غداً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7934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غداً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5204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Shape 18"/>
          <p:cNvSpPr/>
          <p:nvPr/>
        </p:nvSpPr>
        <p:spPr>
          <a:xfrm>
            <a:off x="3493008" y="3520440"/>
            <a:ext cx="73152" cy="1691640"/>
          </a:xfrm>
          <a:prstGeom prst="rect">
            <a:avLst/>
          </a:prstGeom>
          <a:solidFill>
            <a:srgbClr val="2FA65A"/>
          </a:solidFill>
          <a:ln w="12700">
            <a:solidFill>
              <a:srgbClr val="2FA65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1" name="Text 19"/>
          <p:cNvSpPr/>
          <p:nvPr/>
        </p:nvSpPr>
        <p:spPr>
          <a:xfrm>
            <a:off x="905256" y="3611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2FA6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الأنشطة الرئيسية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005840" y="3913632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2167128" y="3273552"/>
            <a:ext cx="146304" cy="137160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5559552" y="2862072"/>
            <a:ext cx="310896" cy="310896"/>
          </a:xfrm>
          <a:prstGeom prst="ellipse">
            <a:avLst/>
          </a:prstGeom>
          <a:solidFill>
            <a:srgbClr val="C9A2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5715000" y="286207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Shape 24"/>
          <p:cNvSpPr/>
          <p:nvPr/>
        </p:nvSpPr>
        <p:spPr>
          <a:xfrm>
            <a:off x="5218218" y="17647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7" name="Text 25"/>
          <p:cNvSpPr/>
          <p:nvPr/>
        </p:nvSpPr>
        <p:spPr>
          <a:xfrm>
            <a:off x="5145442" y="182422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جاري العمل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774094" y="21305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اليوم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82654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يتم إنجازه اليوم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51960" y="35204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1" name="Shape 29"/>
          <p:cNvSpPr/>
          <p:nvPr/>
        </p:nvSpPr>
        <p:spPr>
          <a:xfrm>
            <a:off x="6967728" y="3520440"/>
            <a:ext cx="73152" cy="169164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4379976" y="3611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الأنشطة الرئيسية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4480560" y="3913632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5641848" y="3273552"/>
            <a:ext cx="146304" cy="137160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034272" y="2862072"/>
            <a:ext cx="310896" cy="310896"/>
          </a:xfrm>
          <a:prstGeom prst="ellipse">
            <a:avLst/>
          </a:prstGeom>
          <a:solidFill>
            <a:srgbClr val="C9D3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Shape 34"/>
          <p:cNvSpPr/>
          <p:nvPr/>
        </p:nvSpPr>
        <p:spPr>
          <a:xfrm>
            <a:off x="9189720" y="2862072"/>
            <a:ext cx="0" cy="0"/>
          </a:xfrm>
          <a:prstGeom prst="line">
            <a:avLst/>
          </a:prstGeom>
          <a:noFill/>
          <a:ln w="889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7" name="Shape 35"/>
          <p:cNvSpPr/>
          <p:nvPr/>
        </p:nvSpPr>
        <p:spPr>
          <a:xfrm>
            <a:off x="8805672" y="1764792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670266" y="1824228"/>
            <a:ext cx="7223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مكتمل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248814" y="21305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أمس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82634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677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 تم إنجازه أمس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26680" y="352044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Shape 40"/>
          <p:cNvSpPr/>
          <p:nvPr/>
        </p:nvSpPr>
        <p:spPr>
          <a:xfrm>
            <a:off x="10442448" y="3520440"/>
            <a:ext cx="73152" cy="1691640"/>
          </a:xfrm>
          <a:prstGeom prst="rect">
            <a:avLst/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3" name="Text 41"/>
          <p:cNvSpPr/>
          <p:nvPr/>
        </p:nvSpPr>
        <p:spPr>
          <a:xfrm>
            <a:off x="7854696" y="361188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C9D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الأنشطة الرئيسية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7955280" y="3913632"/>
            <a:ext cx="2331720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١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٢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نشاط ٣</a:t>
            </a:r>
            <a:endParaRPr lang="en-US" sz="860" dirty="0"/>
          </a:p>
          <a:p>
            <a:pPr marL="0" indent="0" algn="r" rtl="1">
              <a:buNone/>
            </a:pPr>
            <a:r>
              <a:rPr lang="en-US" sz="86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اعتماد/تنسيق مطلوب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9126616" y="3273552"/>
            <a:ext cx="146304" cy="137160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715000" y="5413248"/>
            <a:ext cx="0" cy="0"/>
          </a:xfrm>
          <a:prstGeom prst="line">
            <a:avLst/>
          </a:prstGeom>
          <a:noFill/>
          <a:ln w="1524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46920" y="-960120"/>
            <a:ext cx="3474720" cy="3474720"/>
          </a:xfrm>
          <a:prstGeom prst="arc">
            <a:avLst/>
          </a:prstGeom>
          <a:noFill/>
          <a:ln w="16510">
            <a:solidFill>
              <a:srgbClr val="C9A24A">
                <a:alpha val="85000"/>
              </a:srgbClr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920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50" b="1" dirty="0">
                <a:solidFill>
                  <a:srgbClr val="C9A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تقرير يومي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23160" y="100584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 وخطة الغد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384048" cy="219456"/>
          </a:xfrm>
          <a:prstGeom prst="rect">
            <a:avLst/>
          </a:prstGeom>
          <a:solidFill>
            <a:srgbClr val="08283B"/>
          </a:solidFill>
          <a:ln>
            <a:solidFill>
              <a:srgbClr val="08283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٠٧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005840"/>
            <a:ext cx="11201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11631168" y="1005840"/>
            <a:ext cx="73152" cy="2788920"/>
          </a:xfrm>
          <a:prstGeom prst="rect">
            <a:avLst/>
          </a:prstGeom>
          <a:solidFill>
            <a:srgbClr val="116A66"/>
          </a:solidFill>
          <a:ln w="12700">
            <a:solidFill>
              <a:srgbClr val="116A66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30936" y="109728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116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التوصيات المقترحة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77240" y="1481328"/>
            <a:ext cx="4114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804672" y="1531620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موعد الحسم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188720" y="1481328"/>
            <a:ext cx="246888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1216152" y="153162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المالك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657600" y="1481328"/>
            <a:ext cx="233172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3685032" y="1531620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القرار/الإجراء المطلوب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989320" y="1481328"/>
            <a:ext cx="219456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6016752" y="1531620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السبب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8183880" y="1481328"/>
            <a:ext cx="114300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8211312" y="15316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التوصية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326880" y="1481328"/>
            <a:ext cx="1463040" cy="292608"/>
          </a:xfrm>
          <a:prstGeom prst="rect">
            <a:avLst/>
          </a:prstGeom>
          <a:solidFill>
            <a:srgbClr val="116A66"/>
          </a:solidFill>
          <a:ln w="4445">
            <a:solidFill>
              <a:srgbClr val="FFFFFF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9354312" y="153162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77240" y="1773936"/>
            <a:ext cx="4114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809244" y="1819656"/>
            <a:ext cx="3474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15" dirty="0"/>
          </a:p>
        </p:txBody>
      </p:sp>
      <p:sp>
        <p:nvSpPr>
          <p:cNvPr id="27" name="Shape 25"/>
          <p:cNvSpPr/>
          <p:nvPr/>
        </p:nvSpPr>
        <p:spPr>
          <a:xfrm>
            <a:off x="1188720" y="1773936"/>
            <a:ext cx="24688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1220724" y="1819656"/>
            <a:ext cx="24048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715" dirty="0"/>
          </a:p>
        </p:txBody>
      </p:sp>
      <p:sp>
        <p:nvSpPr>
          <p:cNvPr id="29" name="Shape 27"/>
          <p:cNvSpPr/>
          <p:nvPr/>
        </p:nvSpPr>
        <p:spPr>
          <a:xfrm>
            <a:off x="3657600" y="1773936"/>
            <a:ext cx="233172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3689604" y="1819656"/>
            <a:ext cx="226771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15" dirty="0"/>
          </a:p>
        </p:txBody>
      </p:sp>
      <p:sp>
        <p:nvSpPr>
          <p:cNvPr id="31" name="Shape 29"/>
          <p:cNvSpPr/>
          <p:nvPr/>
        </p:nvSpPr>
        <p:spPr>
          <a:xfrm>
            <a:off x="5989320" y="1773936"/>
            <a:ext cx="219456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6021324" y="1819656"/>
            <a:ext cx="213055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مبرر</a:t>
            </a:r>
            <a:endParaRPr lang="en-US" sz="715" dirty="0"/>
          </a:p>
        </p:txBody>
      </p:sp>
      <p:sp>
        <p:nvSpPr>
          <p:cNvPr id="33" name="Shape 31"/>
          <p:cNvSpPr/>
          <p:nvPr/>
        </p:nvSpPr>
        <p:spPr>
          <a:xfrm>
            <a:off x="8183880" y="1773936"/>
            <a:ext cx="114300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4" name="Text 32"/>
          <p:cNvSpPr/>
          <p:nvPr/>
        </p:nvSpPr>
        <p:spPr>
          <a:xfrm>
            <a:off x="8215884" y="1819656"/>
            <a:ext cx="107899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15" dirty="0"/>
          </a:p>
        </p:txBody>
      </p:sp>
      <p:sp>
        <p:nvSpPr>
          <p:cNvPr id="35" name="Shape 33"/>
          <p:cNvSpPr/>
          <p:nvPr/>
        </p:nvSpPr>
        <p:spPr>
          <a:xfrm>
            <a:off x="9326880" y="1773936"/>
            <a:ext cx="146304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9358884" y="1819656"/>
            <a:ext cx="139903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١</a:t>
            </a:r>
            <a:endParaRPr lang="en-US" sz="715" dirty="0"/>
          </a:p>
        </p:txBody>
      </p:sp>
      <p:sp>
        <p:nvSpPr>
          <p:cNvPr id="37" name="Shape 35"/>
          <p:cNvSpPr/>
          <p:nvPr/>
        </p:nvSpPr>
        <p:spPr>
          <a:xfrm>
            <a:off x="777240" y="2176272"/>
            <a:ext cx="41148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809244" y="2221992"/>
            <a:ext cx="3474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15" dirty="0"/>
          </a:p>
        </p:txBody>
      </p:sp>
      <p:sp>
        <p:nvSpPr>
          <p:cNvPr id="39" name="Shape 37"/>
          <p:cNvSpPr/>
          <p:nvPr/>
        </p:nvSpPr>
        <p:spPr>
          <a:xfrm>
            <a:off x="1188720" y="2176272"/>
            <a:ext cx="246888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1220724" y="2221992"/>
            <a:ext cx="24048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715" dirty="0"/>
          </a:p>
        </p:txBody>
      </p:sp>
      <p:sp>
        <p:nvSpPr>
          <p:cNvPr id="41" name="Shape 39"/>
          <p:cNvSpPr/>
          <p:nvPr/>
        </p:nvSpPr>
        <p:spPr>
          <a:xfrm>
            <a:off x="3657600" y="2176272"/>
            <a:ext cx="233172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2" name="Text 40"/>
          <p:cNvSpPr/>
          <p:nvPr/>
        </p:nvSpPr>
        <p:spPr>
          <a:xfrm>
            <a:off x="3689604" y="2221992"/>
            <a:ext cx="226771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15" dirty="0"/>
          </a:p>
        </p:txBody>
      </p:sp>
      <p:sp>
        <p:nvSpPr>
          <p:cNvPr id="43" name="Shape 41"/>
          <p:cNvSpPr/>
          <p:nvPr/>
        </p:nvSpPr>
        <p:spPr>
          <a:xfrm>
            <a:off x="5989320" y="2176272"/>
            <a:ext cx="219456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4" name="Text 42"/>
          <p:cNvSpPr/>
          <p:nvPr/>
        </p:nvSpPr>
        <p:spPr>
          <a:xfrm>
            <a:off x="6021324" y="2221992"/>
            <a:ext cx="213055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مبرر</a:t>
            </a:r>
            <a:endParaRPr lang="en-US" sz="715" dirty="0"/>
          </a:p>
        </p:txBody>
      </p:sp>
      <p:sp>
        <p:nvSpPr>
          <p:cNvPr id="45" name="Shape 43"/>
          <p:cNvSpPr/>
          <p:nvPr/>
        </p:nvSpPr>
        <p:spPr>
          <a:xfrm>
            <a:off x="8183880" y="2176272"/>
            <a:ext cx="114300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8215884" y="2221992"/>
            <a:ext cx="107899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15" dirty="0"/>
          </a:p>
        </p:txBody>
      </p:sp>
      <p:sp>
        <p:nvSpPr>
          <p:cNvPr id="47" name="Shape 45"/>
          <p:cNvSpPr/>
          <p:nvPr/>
        </p:nvSpPr>
        <p:spPr>
          <a:xfrm>
            <a:off x="9326880" y="2176272"/>
            <a:ext cx="1463040" cy="402336"/>
          </a:xfrm>
          <a:prstGeom prst="rect">
            <a:avLst/>
          </a:prstGeom>
          <a:solidFill>
            <a:srgbClr val="F7FAFA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48" name="Text 46"/>
          <p:cNvSpPr/>
          <p:nvPr/>
        </p:nvSpPr>
        <p:spPr>
          <a:xfrm>
            <a:off x="9358884" y="2221992"/>
            <a:ext cx="139903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٢</a:t>
            </a:r>
            <a:endParaRPr lang="en-US" sz="715" dirty="0"/>
          </a:p>
        </p:txBody>
      </p:sp>
      <p:sp>
        <p:nvSpPr>
          <p:cNvPr id="49" name="Shape 47"/>
          <p:cNvSpPr/>
          <p:nvPr/>
        </p:nvSpPr>
        <p:spPr>
          <a:xfrm>
            <a:off x="777240" y="2578608"/>
            <a:ext cx="4114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0" name="Text 48"/>
          <p:cNvSpPr/>
          <p:nvPr/>
        </p:nvSpPr>
        <p:spPr>
          <a:xfrm>
            <a:off x="809244" y="2624328"/>
            <a:ext cx="3474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وقت</a:t>
            </a:r>
            <a:endParaRPr lang="en-US" sz="715" dirty="0"/>
          </a:p>
        </p:txBody>
      </p:sp>
      <p:sp>
        <p:nvSpPr>
          <p:cNvPr id="51" name="Shape 49"/>
          <p:cNvSpPr/>
          <p:nvPr/>
        </p:nvSpPr>
        <p:spPr>
          <a:xfrm>
            <a:off x="1188720" y="2578608"/>
            <a:ext cx="246888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2" name="Text 50"/>
          <p:cNvSpPr/>
          <p:nvPr/>
        </p:nvSpPr>
        <p:spPr>
          <a:xfrm>
            <a:off x="1220724" y="2624328"/>
            <a:ext cx="240487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مالك</a:t>
            </a:r>
            <a:endParaRPr lang="en-US" sz="715" dirty="0"/>
          </a:p>
        </p:txBody>
      </p:sp>
      <p:sp>
        <p:nvSpPr>
          <p:cNvPr id="53" name="Shape 51"/>
          <p:cNvSpPr/>
          <p:nvPr/>
        </p:nvSpPr>
        <p:spPr>
          <a:xfrm>
            <a:off x="3657600" y="2578608"/>
            <a:ext cx="233172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4" name="Text 52"/>
          <p:cNvSpPr/>
          <p:nvPr/>
        </p:nvSpPr>
        <p:spPr>
          <a:xfrm>
            <a:off x="3689604" y="2624328"/>
            <a:ext cx="226771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قرار/إجراء</a:t>
            </a:r>
            <a:endParaRPr lang="en-US" sz="715" dirty="0"/>
          </a:p>
        </p:txBody>
      </p:sp>
      <p:sp>
        <p:nvSpPr>
          <p:cNvPr id="55" name="Shape 53"/>
          <p:cNvSpPr/>
          <p:nvPr/>
        </p:nvSpPr>
        <p:spPr>
          <a:xfrm>
            <a:off x="5989320" y="2578608"/>
            <a:ext cx="219456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6" name="Text 54"/>
          <p:cNvSpPr/>
          <p:nvPr/>
        </p:nvSpPr>
        <p:spPr>
          <a:xfrm>
            <a:off x="6021324" y="2624328"/>
            <a:ext cx="213055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مبرر</a:t>
            </a:r>
            <a:endParaRPr lang="en-US" sz="715" dirty="0"/>
          </a:p>
        </p:txBody>
      </p:sp>
      <p:sp>
        <p:nvSpPr>
          <p:cNvPr id="57" name="Shape 55"/>
          <p:cNvSpPr/>
          <p:nvPr/>
        </p:nvSpPr>
        <p:spPr>
          <a:xfrm>
            <a:off x="8183880" y="2578608"/>
            <a:ext cx="114300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58" name="Text 56"/>
          <p:cNvSpPr/>
          <p:nvPr/>
        </p:nvSpPr>
        <p:spPr>
          <a:xfrm>
            <a:off x="8215884" y="2624328"/>
            <a:ext cx="107899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توصية</a:t>
            </a:r>
            <a:endParaRPr lang="en-US" sz="715" dirty="0"/>
          </a:p>
        </p:txBody>
      </p:sp>
      <p:sp>
        <p:nvSpPr>
          <p:cNvPr id="59" name="Shape 57"/>
          <p:cNvSpPr/>
          <p:nvPr/>
        </p:nvSpPr>
        <p:spPr>
          <a:xfrm>
            <a:off x="9326880" y="2578608"/>
            <a:ext cx="1463040" cy="402336"/>
          </a:xfrm>
          <a:prstGeom prst="rect">
            <a:avLst/>
          </a:prstGeom>
          <a:solidFill>
            <a:srgbClr val="FFFFFF"/>
          </a:solidFill>
          <a:ln w="5715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0" name="Text 58"/>
          <p:cNvSpPr/>
          <p:nvPr/>
        </p:nvSpPr>
        <p:spPr>
          <a:xfrm>
            <a:off x="9358884" y="2624328"/>
            <a:ext cx="1399032" cy="310896"/>
          </a:xfrm>
          <a:prstGeom prst="rect">
            <a:avLst/>
          </a:prstGeom>
          <a:noFill/>
          <a:ln/>
        </p:spPr>
        <p:txBody>
          <a:bodyPr wrap="square" lIns="64" tIns="64" rIns="64" bIns="64" rtlCol="0" anchor="ctr">
            <a:normAutofit/>
          </a:bodyPr>
          <a:lstStyle/>
          <a:p>
            <a:pPr marL="0" indent="0" algn="r" rtl="1">
              <a:buNone/>
            </a:pPr>
            <a:r>
              <a:rPr lang="en-US" sz="715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٣</a:t>
            </a:r>
            <a:endParaRPr lang="en-US" sz="715" dirty="0"/>
          </a:p>
        </p:txBody>
      </p:sp>
      <p:sp>
        <p:nvSpPr>
          <p:cNvPr id="61" name="Shape 59"/>
          <p:cNvSpPr/>
          <p:nvPr/>
        </p:nvSpPr>
        <p:spPr>
          <a:xfrm>
            <a:off x="502920" y="425196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2" name="Shape 60"/>
          <p:cNvSpPr/>
          <p:nvPr/>
        </p:nvSpPr>
        <p:spPr>
          <a:xfrm>
            <a:off x="11631168" y="4251960"/>
            <a:ext cx="73152" cy="1417320"/>
          </a:xfrm>
          <a:prstGeom prst="rect">
            <a:avLst/>
          </a:prstGeom>
          <a:solidFill>
            <a:srgbClr val="08283B"/>
          </a:solidFill>
          <a:ln w="12700">
            <a:solidFill>
              <a:srgbClr val="08283B"/>
            </a:solidFill>
            <a:prstDash val="solid"/>
          </a:ln>
        </p:spPr>
        <p:txBody>
          <a:bodyPr/>
          <a:lstStyle/>
          <a:p>
            <a:pPr algn="r" rtl="1"/>
            <a:endParaRPr lang="ar-SA"/>
          </a:p>
        </p:txBody>
      </p:sp>
      <p:sp>
        <p:nvSpPr>
          <p:cNvPr id="63" name="Text 61"/>
          <p:cNvSpPr/>
          <p:nvPr/>
        </p:nvSpPr>
        <p:spPr>
          <a:xfrm>
            <a:off x="630936" y="434340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40" b="1" dirty="0">
                <a:solidFill>
                  <a:srgbClr val="08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مرفقات التقرير اليومي</a:t>
            </a:r>
            <a:endParaRPr lang="en-US" sz="1040" dirty="0"/>
          </a:p>
        </p:txBody>
      </p:sp>
      <p:sp>
        <p:nvSpPr>
          <p:cNvPr id="64" name="Text 62"/>
          <p:cNvSpPr/>
          <p:nvPr/>
        </p:nvSpPr>
        <p:spPr>
          <a:xfrm>
            <a:off x="868680" y="4773168"/>
            <a:ext cx="10149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صور اليوم • محضر الاجتماع الصباحي • سجل القرارات • سجل القضايا • روابط الأدلة والاعتمادات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C36D31B3-1697-1615-AF60-988EB5F92822}"/>
              </a:ext>
            </a:extLst>
          </p:cNvPr>
          <p:cNvSpPr/>
          <p:nvPr/>
        </p:nvSpPr>
        <p:spPr>
          <a:xfrm>
            <a:off x="2451735" y="3155823"/>
            <a:ext cx="891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ar-SA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شكراً لكم ..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1294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526</Words>
  <Application>Microsoft Macintosh PowerPoint</Application>
  <PresentationFormat>Widescreen</PresentationFormat>
  <Paragraphs>233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Mayadeen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نموذج التقرير اليومي – كاقا</dc:title>
  <dc:subject>Daily Report Template</dc:subject>
  <dc:creator>OpenAI</dc:creator>
  <cp:lastModifiedBy>Atheer ALthobiti</cp:lastModifiedBy>
  <cp:revision>6</cp:revision>
  <dcterms:created xsi:type="dcterms:W3CDTF">2026-06-04T19:34:45Z</dcterms:created>
  <dcterms:modified xsi:type="dcterms:W3CDTF">2026-06-07T21:08:25Z</dcterms:modified>
</cp:coreProperties>
</file>